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为大家汇报我的量化投资项目——双均线交易策略的实践与分析。本次汇报将围绕顺络电子这只股票，展示如何利用掘金量化平台和Python语言，构建一个自动化的交易策略，并对其效果进行全面的回测与评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将分为八个部分。首先，我会阐述项目的核心任务和意义。接着，介绍项目的背景和具体研究方案。然后，展示技术实现，包括环境配置、系统架构和核心代码。之后，重点分析回测结果和不同市场场景下的策略表现。最后，进行总结并提出未来的改进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项目的核心目标是构建一个基于双均线的量化交易策略。简单来说，就是利用5日和20日均线的交叉信号来决定买卖时机，并加入严格的5%止损和15%止盈规则来控制风险。这个项目的意义在于，它能帮助我们克服人性的弱点，用客观的规则进行交易，并通过历史数据来检验策略的有效性。我们使用的主要工具是Python语言和掘金量化平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开始项目前，我们调研了量化投资的行业现状。目前市面上有多种量化平台，我们选择了功能强大的代码型平台掘金GM。我们采用的双均线策略是经典的趋势跟踪策略，其核心是通过金叉和死叉来判断买卖点。本次研究，我们选择了顺络电子作为标的，在2022到2023两年的时间区间内，用10万元初始资金进行回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我们的技术实现基于Python 3.8以上版本，并使用了掘金官方的SDK和pandas库。整个策略系统分为四层架构：从底层的数据订阅，到指标计算，再到风控逻辑，最后是交易执行。这个分层结构使得策略逻辑清晰，易于维护和扩展。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策略的核心代码片段。init函数负责初始化，on_bar函数是策略的心脏，每天都会被触发，用于计算均线、判断交易信号并执行买卖。核心逻辑非常清晰：当出现金叉且没有持仓时，我们就满仓买入；当出现死叉，或者触发了5%的止损、15%的止盈时，我们就卖出全部持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大家最关心的回测结果。在两年的回测期内，我们的策略实现了14.72%的总收益率，年化收益约为7.13%。最大回撤控制在9.25%以内，夏普比率达到了1.17，这表明策略的风险收益比是比较理想的。更重要的是，我们的策略跑赢了同期沪深300指数约5.81个百分点，证明了其有效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更深入地理解策略，我们分析了它在不同市场场景下的表现。在单边上涨的牛市行情中，策略表现出色，贡献了大部分利润。然而，它也有明显的短板。在横盘震荡行情中，策略会频繁发出交易信号，导致交易成本激增。而在突发暴跌的极端行情下，虽然止损规则能控制损失，但依然无法避免单次亏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探究参数选择对策略的影响，我们进行了多组对照实验。我们测试了更短期的3/15均线和更长期的8/25均线。结果显示，短期参数虽然灵敏，但在震荡市中亏损更多，回撤也更大。而长期参数虽然更稳健，但会错过一些短线机会。相比之下，我们最初选择的5/20参数组合，在收益率和回撤控制上取得了最佳平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这次实践，我们总结了策略存在的几个主要问题。首先是趋势策略的固有缺陷，即在震荡市中表现不佳。其次，参数的选择具有局限性，可能存在过拟合。最后，我们的风控手段还比较单一。针对这些问题，我们提出了几个改进方向，比如通过大盘指数过滤信号、融合其他技术指标，以及实现动态风控等，这些都是未来可以深入研究的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想分享一下个人的收获。通过这个项目，我不仅掌握了量化策略开发的全流程，更重要的是，我理解了量化投资的本质——它不是一个稳赚不赔的公式，而是一种帮助我们认清策略边界、克服人性弱点的科学工具。这次实践极大地提升了我的工程能力和对金融科技的认知。总的来说，双均线策略是一个非常好的起点，为我们未来更深入的量化研究打下了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我的汇报到此结束，感谢大家的聆听。如果大家有任何问题，欢迎随时提出，我们一起交流探讨。谢谢！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jpeg" Type="http://schemas.openxmlformats.org/officeDocument/2006/relationships/image"/><Relationship Id="rId12" Target="../media/image27.jpeg" Type="http://schemas.openxmlformats.org/officeDocument/2006/relationships/image"/><Relationship Id="rId13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9.svg" Type="http://schemas.openxmlformats.org/officeDocument/2006/relationships/image"/><Relationship Id="rId11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7.svg" Type="http://schemas.openxmlformats.org/officeDocument/2006/relationships/image"/><Relationship Id="rId11" Target="../notesSlides/notesSlide11.xml" Type="http://schemas.openxmlformats.org/officeDocument/2006/relationships/notesSlide"/><Relationship Id="rId2" Target="../media/image2.jpeg" Type="http://schemas.openxmlformats.org/officeDocument/2006/relationships/image"/><Relationship Id="rId3" Target="../media/image50.png" Type="http://schemas.openxmlformats.org/officeDocument/2006/relationships/image"/><Relationship Id="rId4" Target="../media/image51.sv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54.png" Type="http://schemas.openxmlformats.org/officeDocument/2006/relationships/image"/><Relationship Id="rId8" Target="../media/image55.sv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8.jpeg" Type="http://schemas.openxmlformats.org/officeDocument/2006/relationships/image"/><Relationship Id="rId3" Target="../notesSlides/notesSlide12.xml" Type="http://schemas.openxmlformats.org/officeDocument/2006/relationships/notesSlide"/><Relationship Id="rId4" Target="../media/image5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905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量化投资双均线交易策略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175000"/>
            <a:ext cx="1524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55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项目实践汇报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7" flipH="false" flipV="false">
            <a:off x="1016004" y="507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5461000"/>
            <a:ext cx="50800" cy="762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5461000"/>
            <a:ext cx="457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研究标的  /  开发平台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顺络电子 (SZSE.002138)   |   掘金量化GM + Python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5331254" flipH="false" flipV="false">
            <a:off x="5905500" y="5835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477000" y="54610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  /  汇报日期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XXX   |   2026年6月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60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ADE8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762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095500"/>
            <a:ext cx="76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4ADE8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032000" y="21336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项目任务阐述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明确项目核心目标与价值，阐述任务的具体执行方向与预期成果。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302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302000"/>
            <a:ext cx="762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365500"/>
            <a:ext cx="76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4ADE8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032000" y="34036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行业背景与研究内容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深入剖析行业发展现状，梳理关键问题，确立针对性的研究方案与路径。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445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445000"/>
            <a:ext cx="762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508500"/>
            <a:ext cx="76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4ADE8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032000" y="45466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环境配置与系统架构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搭建稳定开发环境，设计高扩展性系统架构，保障项目实施的技术基础。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2032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2032000"/>
            <a:ext cx="762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2095500"/>
            <a:ext cx="76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4ADE8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493000" y="21336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核心代码实现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聚焦核心功能模块开发，规范代码逻辑与结构，实现关键算法的工程落地。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3302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3302000"/>
            <a:ext cx="762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3365500"/>
            <a:ext cx="76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4ADE8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493000" y="34036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回测结果与场景分析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基于历史数据进行策略回测，分析不同市场场景下的表现与风险收益特征。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23000" y="4445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23000" y="4445000"/>
            <a:ext cx="762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77000" y="4508500"/>
            <a:ext cx="76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4ADE8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493000" y="45466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多参数对照实验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通过控制变量法开展多组对照实验，验证参数敏感性，优化策略关键因子。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5651500"/>
            <a:ext cx="5207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" y="5651500"/>
            <a:ext cx="76200" cy="889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016000" y="5715000"/>
            <a:ext cx="63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4ADE8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2032000" y="5740400"/>
            <a:ext cx="3683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策略问题与改进方向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复盘现有策略局限性，提出针对性优化方案与未来迭代思路。</a:t>
            </a:r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223000" y="5651500"/>
            <a:ext cx="5207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223000" y="5651500"/>
            <a:ext cx="76200" cy="889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477000" y="5715000"/>
            <a:ext cx="63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4ADE8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493000" y="5740400"/>
            <a:ext cx="3683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个人收获与总结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梳理项目实践中的经验教训，总结技术与认知层面的成长与感悟。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项目任务阐述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349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3114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核心目标构建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946" flipH="false" flipV="false">
            <a:off x="1016014" y="2978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175000"/>
            <a:ext cx="2921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b="true" i="false" strike="noStrike" u="none" sz="1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5日/20日均线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构建趋势跟踪策略，嵌入</a:t>
            </a:r>
            <a:r>
              <a:rPr lang="en-US" b="true" i="false" strike="noStrike" u="none" sz="1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5%止损+15%止盈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的严格风控规则，通过历史数据回测验证策略有效性，最终实现股票程序化自动交易闭环。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2032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23495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143500" y="23114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价值与实践意义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946" flipH="false" flipV="false">
            <a:off x="4635514" y="2978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635500" y="3175000"/>
            <a:ext cx="2921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解决痛点：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克服人工交易的情绪化与追涨杀跌，解决无法持续盯盘的问题。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科学闭环：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以数学规则替代主观判断，完成“策略开发-回测-优化”的完整科学验证流程。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937500" y="2032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375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23495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699500" y="23114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技术栈与工具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4946" flipH="false" flipV="false">
            <a:off x="8191514" y="2978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191500" y="3175000"/>
            <a:ext cx="2921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Python语言：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作为核心开发语言，实现策略逻辑的代码编写与算法实现。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掘金量化GM平台：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提供权威金融行情数据与高性能回测引擎，支撑策略的历史表现验证。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651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651500"/>
            <a:ext cx="76200" cy="762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" y="5778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从主观交易转向量化决策，通过数据驱动和规则约束，建立可持续、可复制的投资盈利模型。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二、背景调研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ADE8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01. 行业技术现状与核心策略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540000"/>
            <a:ext cx="571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7305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2667000"/>
            <a:ext cx="482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量化平台选型：代码型平台（掘金GM）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相比无代码平台，Python原生开发的掘金GM功能更强大、灵活性更高，是高校量化实训的主流工具，适合深度策略开发。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810000"/>
            <a:ext cx="571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40005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460500" y="3937000"/>
            <a:ext cx="482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核心策略：双均线趋势跟踪法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以“金叉（短期均线上穿长期均线）”为买入信号，“死叉（短期均线下穿长期均线）”为卖出信号，逻辑简洁，是量化入门首选方案。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207000"/>
            <a:ext cx="5715000" cy="889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5397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97000" y="5334000"/>
            <a:ext cx="488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拓展研究方向：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通过对比3/15、8/25等多组均线参数的回测表现，优化策略的时间窗口，提升收益稳定性。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5389889" flipH="false" flipV="false">
            <a:off x="46990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rcRect l="8333" r="8333" t="0" b="0"/>
          <a:stretch>
            <a:fillRect/>
          </a:stretch>
        </p:blipFill>
        <p:spPr>
          <a:xfrm rot="0" flipH="false" flipV="false">
            <a:off x="7112000" y="1905000"/>
            <a:ext cx="4318000" cy="2159000"/>
          </a:xfrm>
          <a:prstGeom prst="rect">
            <a:avLst/>
          </a:prstGeom>
          <a:noFill/>
          <a:ln w="25400" cmpd="sng" cap="flat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7112000" y="4318000"/>
            <a:ext cx="2095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7239000" y="4445000"/>
            <a:ext cx="279400" cy="279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620000" y="4445000"/>
            <a:ext cx="14605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研究标的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23708" flipH="false" flipV="false">
            <a:off x="7239022" y="4883150"/>
            <a:ext cx="184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7239000" y="5080000"/>
            <a:ext cx="1841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顺络电子(002138)，深耕电子元器件领域，股价波动适中，适合趋势策略验证。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334500" y="4318000"/>
            <a:ext cx="2095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9461500" y="4445000"/>
            <a:ext cx="279400" cy="279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9842500" y="4445000"/>
            <a:ext cx="14605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回测参数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23708" flipH="false" flipV="false">
            <a:off x="9461522" y="4883150"/>
            <a:ext cx="184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9461500" y="5080000"/>
            <a:ext cx="1841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区间：2022-2023年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初始资金：10万元人民币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三、环境配置与系统架构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6604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4ADE80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905000"/>
            <a:ext cx="609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3.1 核心技术栈与运行环境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7161" flipH="false" flipV="false">
            <a:off x="1016007" y="2406650"/>
            <a:ext cx="609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603500"/>
            <a:ext cx="190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3.8+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作为核心开发语言，保证语法特性与库的兼容性</a:t>
            </a:r>
          </a:p>
        </p:txBody>
      </p:sp>
      <p:cxnSp>
        <p:nvCxnSpPr>
          <p:cNvPr name="Connector 9" id="9"/>
          <p:cNvCxnSpPr/>
          <p:nvPr/>
        </p:nvCxnSpPr>
        <p:spPr>
          <a:xfrm rot="5331254" flipH="false" flipV="false">
            <a:off x="2730500" y="29782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3175000" y="2603500"/>
            <a:ext cx="1968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核心库支持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基于gm.api (掘金SDK)与pandas进行高效数据处理</a:t>
            </a:r>
          </a:p>
        </p:txBody>
      </p:sp>
      <p:cxnSp>
        <p:nvCxnSpPr>
          <p:cNvPr name="Connector 11" id="11"/>
          <p:cNvCxnSpPr/>
          <p:nvPr/>
        </p:nvCxnSpPr>
        <p:spPr>
          <a:xfrm rot="5331254" flipH="false" flipV="false">
            <a:off x="4889500" y="29782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5270500" y="2603500"/>
            <a:ext cx="1968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本地回测引擎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利用掘金本地引擎，实现策略的快速迭代与验证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064000"/>
            <a:ext cx="1587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064000"/>
            <a:ext cx="15875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14400" y="4254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270000" y="42545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34035" flipH="false" flipV="false">
            <a:off x="914431" y="4756150"/>
            <a:ext cx="1282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89000" y="4889500"/>
            <a:ext cx="1333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实时订阅市场日线行情数据，为后续策略计算提供底层数据支撑。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540000" y="4064000"/>
            <a:ext cx="1587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540000" y="4064000"/>
            <a:ext cx="15875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2692400" y="4254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3048000" y="42545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计算层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34035" flipH="false" flipV="false">
            <a:off x="2692431" y="4756150"/>
            <a:ext cx="1282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2667000" y="4889500"/>
            <a:ext cx="1333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滚动计算MA5/MA20均线，通过算法逻辑精准判断金叉与死叉信号。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254500" y="4064000"/>
            <a:ext cx="1587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254500" y="4064000"/>
            <a:ext cx="15875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406900" y="4254500"/>
            <a:ext cx="304800" cy="3048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4762500" y="42545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风控层</a:t>
            </a:r>
            <a:endParaRPr lang="en-US" sz="1100"/>
          </a:p>
        </p:txBody>
      </p:sp>
      <p:cxnSp>
        <p:nvCxnSpPr>
          <p:cNvPr name="Connector 29" id="29"/>
          <p:cNvCxnSpPr/>
          <p:nvPr/>
        </p:nvCxnSpPr>
        <p:spPr>
          <a:xfrm rot="-34035" flipH="false" flipV="false">
            <a:off x="4406931" y="4756150"/>
            <a:ext cx="1282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0" id="30"/>
          <p:cNvSpPr/>
          <p:nvPr/>
        </p:nvSpPr>
        <p:spPr>
          <a:xfrm rot="0" flipH="false" flipV="false">
            <a:off x="4381500" y="4889500"/>
            <a:ext cx="1333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实时监控持仓盈亏状态，严格执行止盈止损策略，保障资金安全。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905500" y="4064000"/>
            <a:ext cx="1587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5905500" y="4064000"/>
            <a:ext cx="15875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057900" y="4254500"/>
            <a:ext cx="304800" cy="3048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6413500" y="42545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交易层</a:t>
            </a:r>
            <a:endParaRPr lang="en-US" sz="1100"/>
          </a:p>
        </p:txBody>
      </p:sp>
      <p:cxnSp>
        <p:nvCxnSpPr>
          <p:cNvPr name="Connector 35" id="35"/>
          <p:cNvCxnSpPr/>
          <p:nvPr/>
        </p:nvCxnSpPr>
        <p:spPr>
          <a:xfrm rot="-34035" flipH="false" flipV="false">
            <a:off x="6057931" y="4756150"/>
            <a:ext cx="1282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6" id="36"/>
          <p:cNvSpPr/>
          <p:nvPr/>
        </p:nvSpPr>
        <p:spPr>
          <a:xfrm rot="0" flipH="false" flipV="false">
            <a:off x="6032500" y="4889500"/>
            <a:ext cx="1333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对接交易接口，根据信号自动执行全仓买入或全仓平仓操作。</a:t>
            </a:r>
            <a:endParaRPr lang="en-US" sz="1100"/>
          </a:p>
        </p:txBody>
      </p:sp>
      <p:cxnSp>
        <p:nvCxnSpPr>
          <p:cNvPr name="Connector 37" id="37"/>
          <p:cNvCxnSpPr/>
          <p:nvPr/>
        </p:nvCxnSpPr>
        <p:spPr>
          <a:xfrm rot="5389889" flipH="false" flipV="false">
            <a:off x="56515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8" id="38"/>
          <p:cNvSpPr/>
          <p:nvPr/>
        </p:nvSpPr>
        <p:spPr>
          <a:xfrm rot="0" flipH="false" flipV="false">
            <a:off x="8064500" y="1778000"/>
            <a:ext cx="3619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11"/>
          <a:srcRect l="0" r="0" t="97" b="97"/>
          <a:stretch>
            <a:fillRect/>
          </a:stretch>
        </p:blipFill>
        <p:spPr>
          <a:xfrm rot="0" flipH="false" flipV="false">
            <a:off x="8255000" y="1968500"/>
            <a:ext cx="1270000" cy="127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0" id="40"/>
          <p:cNvSpPr/>
          <p:nvPr/>
        </p:nvSpPr>
        <p:spPr>
          <a:xfrm rot="0" flipH="false" flipV="false">
            <a:off x="9715500" y="2032000"/>
            <a:ext cx="1841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掘金量化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提供专业的金融数据服务与交易接口，是量化策略开发的高效平台，支持多语言接入。</a:t>
            </a:r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8064500" y="4127500"/>
            <a:ext cx="3619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8255000" y="4318000"/>
            <a:ext cx="1270000" cy="127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3" id="43"/>
          <p:cNvSpPr/>
          <p:nvPr/>
        </p:nvSpPr>
        <p:spPr>
          <a:xfrm rot="0" flipH="false" flipV="false">
            <a:off x="9715500" y="4381500"/>
            <a:ext cx="1841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生态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凭借丰富的第三方库生态（如Pandas、NumPy），成为金融数据分析与策略开发的首选语言。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四、核心代码实现（精简版）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ADE8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222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21844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init() 策略初始化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667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完成策略参数配置、基础变量初始化与市场行情数据的自动订阅，为运行做准备。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4925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3683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36449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on_bar() 核心驱动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41275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日线级数据驱动函数，承载核心逻辑：计算均线指标、识别交易信号并执行委托操作。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9530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51435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97000" y="51054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回测结果输出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52500" y="5588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策略运行结束后，自动统计并输出收益率、最大回撤、胜率等关键绩效指标。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5389422" flipH="false" flipV="false">
            <a:off x="2381250" y="4089410"/>
            <a:ext cx="412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4572000" y="2032000"/>
            <a:ext cx="3683000" cy="4127500"/>
          </a:xfrm>
          <a:prstGeom prst="roundRect">
            <a:avLst>
              <a:gd name="adj" fmla="val 0"/>
            </a:avLst>
          </a:prstGeom>
          <a:solidFill>
            <a:srgbClr val="1F2937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699000" y="22225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// 核心交易信号逻辑 (Python)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2732" flipH="false" flipV="false">
            <a:off x="4699012" y="2724150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4699000" y="2921000"/>
            <a:ext cx="342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# 金叉 + 无持仓 → 满仓买入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3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if golden_cross and pos_vol == 0: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3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buy_num = int((cash // price) // 100) * 100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300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order_volume(买入)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2732" flipH="false" flipV="false">
            <a:off x="4699012" y="4438650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4699000" y="4572000"/>
            <a:ext cx="342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# 死叉/止损/止盈 + 持仓 → 平仓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3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elif (dead_cross or sl_trig or tp_trig) and pos_vol &gt; 0: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300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order_volume(卖出)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5389422" flipH="false" flipV="false">
            <a:off x="6381750" y="4089410"/>
            <a:ext cx="412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8572500" y="2032000"/>
            <a:ext cx="3175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F4444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763000" y="2222500"/>
            <a:ext cx="406400" cy="406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9271000" y="2222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固定止损机制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15626" flipH="false" flipV="false">
            <a:off x="8763014" y="2851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F444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8763000" y="3048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当持仓亏损达到</a:t>
            </a:r>
            <a:r>
              <a:rPr lang="en-US" b="tru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5%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时，系统自动触发强制平仓指令，严格控制单笔交易的最大潜在风险敞口。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572500" y="4191000"/>
            <a:ext cx="3175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763000" y="4381500"/>
            <a:ext cx="406400" cy="4064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9271000" y="4381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固定止盈离场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-15626" flipH="false" flipV="false">
            <a:off x="8763014" y="5010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8763000" y="51435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当持仓盈利达到</a:t>
            </a:r>
            <a:r>
              <a:rPr lang="en-US" b="true" i="false" strike="noStrike" u="none" sz="1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15%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时，自动执行卖出操作锁定收益，避免贪婪导致利润回吐，确保策略的盈利稳定性。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五、回测结果展示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62000" y="2032000"/>
          <a:ext cx="10668000" cy="4724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302000"/>
                <a:gridCol w="3048000"/>
                <a:gridCol w="4318000"/>
              </a:tblGrid>
              <a:tr h="762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统计指标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4AD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表现数值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4AD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指标说明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4AD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>
                        <a:alpha val="20000"/>
                      </a:srgbClr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总收益率</a:t>
                      </a:r>
                      <a:endParaRPr lang="en-US" sz="1100"/>
                    </a:p>
                  </a:txBody>
                  <a:tcPr anchor="ctr" anchorCtr="false" marL="254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4AD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16A3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14.72%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4AD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初始本金10万元，策略运行结束后总资产达到114720元，收益表现稳健。</a:t>
                      </a:r>
                      <a:endParaRPr lang="en-US" sz="1100"/>
                    </a:p>
                  </a:txBody>
                  <a:tcPr anchor="ctr" anchorCtr="false" marL="254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4ADE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最大回撤</a:t>
                      </a:r>
                      <a:endParaRPr lang="en-US" sz="1100"/>
                    </a:p>
                  </a:txBody>
                  <a:tcPr anchor="ctr" anchorCtr="false" marL="254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EF444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-9.25%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策略运行周期内账户资产从最高点回落的最大幅度，反映极端行情下的抗风险能力。</a:t>
                      </a:r>
                      <a:endParaRPr lang="en-US" sz="1100"/>
                    </a:p>
                  </a:txBody>
                  <a:tcPr anchor="ctr" anchorCtr="false" marL="254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年化收益率</a:t>
                      </a:r>
                      <a:endParaRPr lang="en-US" sz="1100"/>
                    </a:p>
                  </a:txBody>
                  <a:tcPr anchor="ctr" anchorCtr="false" marL="254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16A3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7.13%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将总收益换算为年度收益水平，剔除时间维度影响，直观体现策略的长期复利能力。</a:t>
                      </a:r>
                      <a:endParaRPr lang="en-US" sz="1100"/>
                    </a:p>
                  </a:txBody>
                  <a:tcPr anchor="ctr" anchorCtr="false" marL="254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夏普比率</a:t>
                      </a:r>
                      <a:endParaRPr lang="en-US" sz="1100"/>
                    </a:p>
                  </a:txBody>
                  <a:tcPr anchor="ctr" anchorCtr="false" marL="254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16A3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1.17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衡量每单位风险获得的超额收益，该数值大于1，说明策略的风险收益配比处于合理区间。</a:t>
                      </a:r>
                      <a:endParaRPr lang="en-US" sz="1100"/>
                    </a:p>
                  </a:txBody>
                  <a:tcPr anchor="ctr" anchorCtr="false" marL="254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交易次数</a:t>
                      </a:r>
                      <a:endParaRPr lang="en-US" sz="1100"/>
                    </a:p>
                  </a:txBody>
                  <a:tcPr anchor="ctr" anchorCtr="false" marL="254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21次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策略在两年内共执行开仓11次、平仓11次，交易频率适中，有效减少手续费损耗。</a:t>
                      </a:r>
                      <a:endParaRPr lang="en-US" sz="1100"/>
                    </a:p>
                  </a:txBody>
                  <a:tcPr anchor="ctr" anchorCtr="false" marL="254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超额收益</a:t>
                      </a:r>
                      <a:endParaRPr lang="en-US" sz="1100"/>
                    </a:p>
                  </a:txBody>
                  <a:tcPr anchor="ctr" anchorCtr="false" marL="254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16A3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+5.81%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对比同期沪深300指数的表现，策略实现了5.81%的正向超额收益，验证了策略的有效性。</a:t>
                      </a:r>
                      <a:endParaRPr lang="en-US" sz="1100"/>
                    </a:p>
                  </a:txBody>
                  <a:tcPr anchor="ctr" anchorCtr="false" marL="254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五、策略场景分析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22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2184400"/>
            <a:ext cx="2603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盈利场景：单边上涨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946" flipH="false" flipV="false">
            <a:off x="1016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048000"/>
            <a:ext cx="292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市场表现：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2022年下半年电子板块上行期间，个股走出明确的趋势性行情，价格沿均线稳步攀升。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191000"/>
            <a:ext cx="2921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核心逻辑与贡献：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金叉入场后策略有效跟随趋势持有，通过股价上涨触发止盈或死叉离场，该区间贡献了策略总盈利的70%。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1905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F87171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F8717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2225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143500" y="2184400"/>
            <a:ext cx="2603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亏损场景：长期横盘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4946" flipH="false" flipV="false">
            <a:off x="4699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4699000" y="3048000"/>
            <a:ext cx="292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市场表现：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2023年3-5月，个股陷入窄幅横盘，5日均线与20日均线反复穿插缠绕，无明确方向。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99000" y="4191000"/>
            <a:ext cx="2921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关键问题：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频繁触发金叉死叉信号，产生大量无效交易，手续费和滑点不断累积，持续侵蚀账户本金。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64500" y="1905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F87171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0645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F8717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18500" y="2222500"/>
            <a:ext cx="355600" cy="355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763000" y="2184400"/>
            <a:ext cx="2603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亏损场景：突发暴跌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4946" flipH="false" flipV="false">
            <a:off x="83185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8318500" y="3048000"/>
            <a:ext cx="292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市场表现：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2022年4月大盘出现系统性回调，金叉买入信号发出后，股价无视均线支撑快速大幅下跌。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18500" y="4191000"/>
            <a:ext cx="2921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关键问题：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短期内跌幅迅速超过5%，直接触发策略硬性止损规则，造成单笔实质性亏损，无法通过趋势持有挽回。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842000"/>
            <a:ext cx="10731500" cy="762000"/>
          </a:xfrm>
          <a:prstGeom prst="roundRect">
            <a:avLst>
              <a:gd name="adj" fmla="val 0"/>
            </a:avLst>
          </a:prstGeom>
          <a:solidFill>
            <a:srgbClr val="1F2937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5842000"/>
            <a:ext cx="50800" cy="762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16000" y="5943600"/>
            <a:ext cx="10287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总结：策略在趋势明确的上涨行情中具备极强的盈利能力，但在震荡市中存在交易成本过高的短板，且无法规避系统性风险带来的突发止损。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六、多参数对照实验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1F2937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2159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参数组合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0" y="21590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总收益率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21590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最大回撤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636000" y="21590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实验结论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175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0" id="10"/>
          <p:cNvCxnSpPr/>
          <p:nvPr/>
        </p:nvCxnSpPr>
        <p:spPr>
          <a:xfrm rot="-4092" flipH="false" flipV="false">
            <a:off x="762004" y="4248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889000" y="3302000"/>
            <a:ext cx="2540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MA3 / MA15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短期灵敏型参数组合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810000" y="34036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9.36%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34036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-12.71%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636000" y="3302000"/>
            <a:ext cx="2667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信号灵敏但交易频繁，震荡市中亏损较多，整体回撤幅度偏大，稳定性不足。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318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mpd="sng" cap="flat">
            <a:solidFill>
              <a:srgbClr val="4ADE8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9000" y="4445000"/>
            <a:ext cx="2540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MA5 / MA20（基准）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均衡型核心参数组合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810000" y="45466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14.72%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45466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-9.25%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636000" y="4445000"/>
            <a:ext cx="2667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在收益率和风险控制间取得最佳平衡，信号有效性高，综合表现最优。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461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89000" y="5588000"/>
            <a:ext cx="2540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MA8 / MA25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长期稳健型参数组合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810000" y="56896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11.05%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50000" y="56896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-7.83%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636000" y="5588000"/>
            <a:ext cx="2667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过滤了杂波，回撤控制最好，但信号滞后性强，容易错过较多短线盈利行情。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七、问题总结 &amp; 改进方向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5389582" flipH="false" flipV="false">
            <a:off x="4000500" y="3994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现存核心痛点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794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794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857500"/>
            <a:ext cx="457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策略固有缺陷：震荡行情失效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趋势跟踪策略在震荡行情中天然失效，频繁的开平仓操作会产生大量交易损耗，大幅拉低策略整体收益表现。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064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064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127500"/>
            <a:ext cx="457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参数局限性：存在过拟合隐患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当前的最优参数仅适配特定标的和历史时间段，缺乏普适性。若市场结构发生变化，策略表现可能出现断崖式下跌，泛化能力不足。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2705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2705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334000"/>
            <a:ext cx="457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风控短板：缺乏动态调整机制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目前仅设置固定比例的止盈止损线，无法根据市场的实际波动率和趋势强度进行动态调整，在极端行情下难以有效保护账户权益。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190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未来改进路径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2794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477000" y="2921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858000" y="2895600"/>
            <a:ext cx="184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策略改良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9644" flipH="false" flipV="false">
            <a:off x="6477018" y="3422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6477000" y="3556000"/>
            <a:ext cx="222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叠加大盘指数过滤信号，在大盘处于下行趋势时自动屏蔽买入指令，从源头规避系统性风险，提升胜率。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953500" y="2794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080500" y="29210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461500" y="2895600"/>
            <a:ext cx="184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多策略融合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9644" flipH="false" flipV="false">
            <a:off x="9080518" y="3422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9080500" y="3556000"/>
            <a:ext cx="222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融合MACD、布林带等多维度指标进行共振筛选，减少单一指标的误判，过滤无效交易信号，优化开仓时机。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50000" y="4699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477000" y="4826000"/>
            <a:ext cx="304800" cy="3048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6858000" y="4800600"/>
            <a:ext cx="184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动态风控体系</a:t>
            </a:r>
            <a:endParaRPr lang="en-US" sz="1100"/>
          </a:p>
        </p:txBody>
      </p:sp>
      <p:cxnSp>
        <p:nvCxnSpPr>
          <p:cNvPr name="Connector 29" id="29"/>
          <p:cNvCxnSpPr/>
          <p:nvPr/>
        </p:nvCxnSpPr>
        <p:spPr>
          <a:xfrm rot="-19644" flipH="false" flipV="false">
            <a:off x="6477018" y="5327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0" id="30"/>
          <p:cNvSpPr/>
          <p:nvPr/>
        </p:nvSpPr>
        <p:spPr>
          <a:xfrm rot="0" flipH="false" flipV="false">
            <a:off x="6477000" y="5461000"/>
            <a:ext cx="222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引入ATR波动率指标，在市场波动剧烈时放宽止损幅度，波动平缓时收紧止盈，实现风控参数的自适应调节。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953500" y="4699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080500" y="4826000"/>
            <a:ext cx="304800" cy="3048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9461500" y="4800600"/>
            <a:ext cx="184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持续实盘跟踪</a:t>
            </a:r>
            <a:endParaRPr lang="en-US" sz="1100"/>
          </a:p>
        </p:txBody>
      </p:sp>
      <p:cxnSp>
        <p:nvCxnSpPr>
          <p:cNvPr name="Connector 34" id="34"/>
          <p:cNvCxnSpPr/>
          <p:nvPr/>
        </p:nvCxnSpPr>
        <p:spPr>
          <a:xfrm rot="-19644" flipH="false" flipV="false">
            <a:off x="9080518" y="5327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5" id="35"/>
          <p:cNvSpPr/>
          <p:nvPr/>
        </p:nvSpPr>
        <p:spPr>
          <a:xfrm rot="0" flipH="false" flipV="false">
            <a:off x="9080500" y="5461000"/>
            <a:ext cx="222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搭建模拟交易盘，接入实时行情数据跑策略，持续监控策略表现，定期复盘迭代，确保策略逻辑的长期有效性。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八、个人收获与总结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762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95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87500" y="2057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掌握量化策略全流程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167" flipH="false" flipV="false">
            <a:off x="10160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794000"/>
            <a:ext cx="476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完整掌握了从理论设计、代码开发、回测验证到数据分析的全过程，建立了系统化的量化策略研发思维。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86500" y="1905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86500" y="1905000"/>
            <a:ext cx="762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2095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112000" y="2057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洞察量化投资核心本质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167" flipH="false" flipV="false">
            <a:off x="65405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540500" y="2794000"/>
            <a:ext cx="476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深刻理解“没有万能策略，只有适配边界”的核心思想，认识到量化是认知市场规律并坚守规则的科学方法。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8735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873500"/>
            <a:ext cx="762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064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587500" y="40259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用客观规则克服人性弱点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167" flipH="false" flipV="false">
            <a:off x="1016008" y="4629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1016000" y="4762500"/>
            <a:ext cx="476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学会以程序化的客观交易规则，规避贪婪、恐惧、犹豫等主观情绪对投资决策的干扰，保持交易纪律性。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86500" y="38735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86500" y="3873500"/>
            <a:ext cx="762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40500" y="40640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112000" y="40259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夯实金融工程技术栈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167" flipH="false" flipV="false">
            <a:off x="6540508" y="4629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540500" y="4762500"/>
            <a:ext cx="476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熟练运用掘金量化SDK、Python数据处理库等工具，打通了策略逻辑与工程实现的壁垒，提升了技术落地能力。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778500"/>
            <a:ext cx="10795000" cy="825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5778500"/>
            <a:ext cx="50800" cy="825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52500" y="5842000"/>
            <a:ext cx="10414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：双均线策略作为经典的量化入门方案，在趋势行情中展现了优异的适应性，同时也暴露了震荡行情下的局限性。本次实践不仅是一次技术演练，更是一次宝贵的金融认知升级，为后续深入探索复杂策略奠定了坚实基础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794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334000" y="4191000"/>
            <a:ext cx="1524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699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欢迎提问交流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期待与您深入探讨技术细节，共同探索更多可能性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{"Label":"1","ContentProducer":"001191110102MACQD9K64010000","ProduceID":"7646977892841262276","ReservedCode1":"","ContentPropagator":"","PropagateID":"","ReservedCode2":""}</vt:lpwstr>
  </property>
</Properties>
</file>